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51a9449ad84591" /><Relationship Type="http://schemas.openxmlformats.org/officeDocument/2006/relationships/extended-properties" Target="/docProps/app.xml" Id="R1ea514924aa547d7" /><Relationship Type="http://schemas.openxmlformats.org/officeDocument/2006/relationships/officeDocument" Target="/ppt/presentation.xml" Id="Rf59196c6f760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e2fc9639d4a49"/>
  </p:sldMasterIdLst>
  <p:notesMasterIdLst>
    <p:notesMasterId xmlns:r="http://schemas.openxmlformats.org/officeDocument/2006/relationships" r:id="Ra4f93db799b941a0"/>
  </p:notesMasterIdLst>
  <p:sldIdLst>
    <p:sldId xmlns:r="http://schemas.openxmlformats.org/officeDocument/2006/relationships" id="256" r:id="Rbabafd260d554c2a"/>
    <p:sldId xmlns:r="http://schemas.openxmlformats.org/officeDocument/2006/relationships" id="257" r:id="R8ebbfced73d546b5"/>
    <p:sldId xmlns:r="http://schemas.openxmlformats.org/officeDocument/2006/relationships" id="258" r:id="Rbe2cb146d11147c5"/>
    <p:sldId xmlns:r="http://schemas.openxmlformats.org/officeDocument/2006/relationships" id="259" r:id="R9febb2c354334c97"/>
    <p:sldId xmlns:r="http://schemas.openxmlformats.org/officeDocument/2006/relationships" id="260" r:id="Rbd8ae055e2584b70"/>
    <p:sldId xmlns:r="http://schemas.openxmlformats.org/officeDocument/2006/relationships" id="261" r:id="R800627da89ed4bd5"/>
    <p:sldId xmlns:r="http://schemas.openxmlformats.org/officeDocument/2006/relationships" id="262" r:id="R6b6e179e85874f9f"/>
    <p:sldId xmlns:r="http://schemas.openxmlformats.org/officeDocument/2006/relationships" id="263" r:id="R2b924f9b25124fd8"/>
    <p:sldId xmlns:r="http://schemas.openxmlformats.org/officeDocument/2006/relationships" id="264" r:id="R398811893131482f"/>
    <p:sldId xmlns:r="http://schemas.openxmlformats.org/officeDocument/2006/relationships" id="265" r:id="R1094f2f8d4af4454"/>
    <p:sldId xmlns:r="http://schemas.openxmlformats.org/officeDocument/2006/relationships" id="266" r:id="Re89bcfde2eae40ff"/>
    <p:sldId xmlns:r="http://schemas.openxmlformats.org/officeDocument/2006/relationships" id="267" r:id="Re5cd677b21df48b6"/>
    <p:sldId xmlns:r="http://schemas.openxmlformats.org/officeDocument/2006/relationships" id="268" r:id="R8a9f32ff265440d0"/>
    <p:sldId xmlns:r="http://schemas.openxmlformats.org/officeDocument/2006/relationships" id="269" r:id="R77516d37b54f48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c718a4a9cb43b5" /><Relationship Type="http://schemas.openxmlformats.org/officeDocument/2006/relationships/slideMaster" Target="/ppt/slideMasters/slideMaster1.xml" Id="R9d0e2fc9639d4a49" /><Relationship Type="http://schemas.openxmlformats.org/officeDocument/2006/relationships/notesMaster" Target="/ppt/notesMasters/notesMaster1.xml" Id="Ra4f93db799b941a0" /><Relationship Type="http://schemas.openxmlformats.org/officeDocument/2006/relationships/presProps" Target="/ppt/presProps.xml" Id="R61d62544956446a2" /><Relationship Type="http://schemas.openxmlformats.org/officeDocument/2006/relationships/tableStyles" Target="/ppt/tableStyles.xml" Id="Raf53066be8864f54" /><Relationship Type="http://schemas.openxmlformats.org/officeDocument/2006/relationships/slide" Target="/ppt/slides/slide1.xml" Id="Rbabafd260d554c2a" /><Relationship Type="http://schemas.openxmlformats.org/officeDocument/2006/relationships/slide" Target="/ppt/slides/slide2.xml" Id="R8ebbfced73d546b5" /><Relationship Type="http://schemas.openxmlformats.org/officeDocument/2006/relationships/slide" Target="/ppt/slides/slide3.xml" Id="Rbe2cb146d11147c5" /><Relationship Type="http://schemas.openxmlformats.org/officeDocument/2006/relationships/slide" Target="/ppt/slides/slide4.xml" Id="R9febb2c354334c97" /><Relationship Type="http://schemas.openxmlformats.org/officeDocument/2006/relationships/slide" Target="/ppt/slides/slide5.xml" Id="Rbd8ae055e2584b70" /><Relationship Type="http://schemas.openxmlformats.org/officeDocument/2006/relationships/slide" Target="/ppt/slides/slide6.xml" Id="R800627da89ed4bd5" /><Relationship Type="http://schemas.openxmlformats.org/officeDocument/2006/relationships/slide" Target="/ppt/slides/slide7.xml" Id="R6b6e179e85874f9f" /><Relationship Type="http://schemas.openxmlformats.org/officeDocument/2006/relationships/slide" Target="/ppt/slides/slide8.xml" Id="R2b924f9b25124fd8" /><Relationship Type="http://schemas.openxmlformats.org/officeDocument/2006/relationships/slide" Target="/ppt/slides/slide9.xml" Id="R398811893131482f" /><Relationship Type="http://schemas.openxmlformats.org/officeDocument/2006/relationships/slide" Target="/ppt/slides/slide10.xml" Id="R1094f2f8d4af4454" /><Relationship Type="http://schemas.openxmlformats.org/officeDocument/2006/relationships/slide" Target="/ppt/slides/slide11.xml" Id="Re89bcfde2eae40ff" /><Relationship Type="http://schemas.openxmlformats.org/officeDocument/2006/relationships/slide" Target="/ppt/slides/slide12.xml" Id="Re5cd677b21df48b6" /><Relationship Type="http://schemas.openxmlformats.org/officeDocument/2006/relationships/slide" Target="/ppt/slides/slide13.xml" Id="R8a9f32ff265440d0" /><Relationship Type="http://schemas.openxmlformats.org/officeDocument/2006/relationships/slide" Target="/ppt/slides/slide14.xml" Id="R77516d37b54f48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b9d9b818540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aa8f2cff104cc2" /><Relationship Type="http://schemas.openxmlformats.org/officeDocument/2006/relationships/notesMaster" Target="/ppt/notesMasters/notesMaster1.xml" Id="R1cc92beae336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870c3c0b84f69" /><Relationship Type="http://schemas.openxmlformats.org/officeDocument/2006/relationships/notesMaster" Target="/ppt/notesMasters/notesMaster1.xml" Id="Rbf5403df9a2442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4e5ce99074e8f" /><Relationship Type="http://schemas.openxmlformats.org/officeDocument/2006/relationships/notesMaster" Target="/ppt/notesMasters/notesMaster1.xml" Id="Re10ef0dd266b4d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479f23b17a4ef1" /><Relationship Type="http://schemas.openxmlformats.org/officeDocument/2006/relationships/notesMaster" Target="/ppt/notesMasters/notesMaster1.xml" Id="R8b0c44474e424b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5a62c586e34046" /><Relationship Type="http://schemas.openxmlformats.org/officeDocument/2006/relationships/notesMaster" Target="/ppt/notesMasters/notesMaster1.xml" Id="Rc7f46c0ba69e47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b04d39efe450b" /><Relationship Type="http://schemas.openxmlformats.org/officeDocument/2006/relationships/notesMaster" Target="/ppt/notesMasters/notesMaster1.xml" Id="R6dc0e6fd64af40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793b98ccbf481e" /><Relationship Type="http://schemas.openxmlformats.org/officeDocument/2006/relationships/notesMaster" Target="/ppt/notesMasters/notesMaster1.xml" Id="R2390ce28ef814a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86576d99434845" /><Relationship Type="http://schemas.openxmlformats.org/officeDocument/2006/relationships/notesMaster" Target="/ppt/notesMasters/notesMaster1.xml" Id="Rb98e78f9c5b04b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df75e20544467" /><Relationship Type="http://schemas.openxmlformats.org/officeDocument/2006/relationships/notesMaster" Target="/ppt/notesMasters/notesMaster1.xml" Id="Rc5f065d9052349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0414ca2fe44111" /><Relationship Type="http://schemas.openxmlformats.org/officeDocument/2006/relationships/notesMaster" Target="/ppt/notesMasters/notesMaster1.xml" Id="R926d1d42580a4a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9880b78a724584" /><Relationship Type="http://schemas.openxmlformats.org/officeDocument/2006/relationships/notesMaster" Target="/ppt/notesMasters/notesMaster1.xml" Id="R7962817882f640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39a279cf6a49e1" /><Relationship Type="http://schemas.openxmlformats.org/officeDocument/2006/relationships/notesMaster" Target="/ppt/notesMasters/notesMaster1.xml" Id="R295365bd3ea74a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a7b97756d3b4663" /><Relationship Type="http://schemas.openxmlformats.org/officeDocument/2006/relationships/notesMaster" Target="/ppt/notesMasters/notesMaster1.xml" Id="R92bc426b58b44a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03d43f869646f2" /><Relationship Type="http://schemas.openxmlformats.org/officeDocument/2006/relationships/notesMaster" Target="/ppt/notesMasters/notesMaster1.xml" Id="R010c999d68c544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§§0–2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§0</a:t>
            </a:r>
          </a:p>
          <a:p xmlns:a="http://schemas.openxmlformats.org/drawingml/2006/main">
            <a:r>
              <a:t>- data/v3/normalized/normalized_corpus_manifest_3ba1afc14def8d2da1f7297679f02df6ff690e6fd18298931d3b108dcd064ebf.json</a:t>
            </a:r>
          </a:p>
          <a:p xmlns:a="http://schemas.openxmlformats.org/drawingml/2006/main">
            <a:r>
              <a:t>- reports/v3/product_free_rag_a6_result_review_4d47ef5d760fdb589fd1a81217d52908a77bd76a78b875384cd2315880c78499.csv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§1</a:t>
            </a:r>
          </a:p>
          <a:p xmlns:a="http://schemas.openxmlformats.org/drawingml/2006/main">
            <a:r>
              <a:t>- reports/v3/product_free_rag_a6_pending_adaptive_replay_20260806.jsonl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§8-1</a:t>
            </a:r>
          </a:p>
          <a:p xmlns:a="http://schemas.openxmlformats.org/drawingml/2006/main">
            <a:r>
              <a:t>- src/v3/product_free_rag.py</a:t>
            </a:r>
          </a:p>
          <a:p xmlns:a="http://schemas.openxmlformats.org/drawingml/2006/main">
            <a:r>
              <a:t>- src/v3/product_evidence_pack.py</a:t>
            </a:r>
          </a:p>
          <a:p xmlns:a="http://schemas.openxmlformats.org/drawingml/2006/main">
            <a:r>
              <a:t>- src/v3/product_minimal_verifier.py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§3-1–3-2</a:t>
            </a:r>
          </a:p>
          <a:p xmlns:a="http://schemas.openxmlformats.org/drawingml/2006/main">
            <a:r>
              <a:t>- docs/v3/detail_parser_hardening.md</a:t>
            </a:r>
          </a:p>
          <a:p xmlns:a="http://schemas.openxmlformats.org/drawingml/2006/main">
            <a:r>
              <a:t>- data/v3/chunks/chunk_corpus_manifest_87fb0fc3477088cf6245e8bd3fd7719374a7dbf778094d5e36fa43458dd54c00.json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§3-3–3-4</a:t>
            </a:r>
          </a:p>
          <a:p xmlns:a="http://schemas.openxmlformats.org/drawingml/2006/main">
            <a:r>
              <a:t>- src/v3/build_chunks.py#L124</a:t>
            </a:r>
          </a:p>
          <a:p xmlns:a="http://schemas.openxmlformats.org/drawingml/2006/main">
            <a:r>
              <a:t>- docs/v3/temporal_policy.md</a:t>
            </a:r>
          </a:p>
          <a:p xmlns:a="http://schemas.openxmlformats.org/drawingml/2006/main">
            <a:r>
              <a:t>- docs/v3/table_atomic_facts_arm1.md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§3-5</a:t>
            </a:r>
          </a:p>
          <a:p xmlns:a="http://schemas.openxmlformats.org/drawingml/2006/main">
            <a:r>
              <a:t>- data/v3/chunks/chunks_dnf_official_v3.1_bd0242b3f19646c22eafd2e61bf2544e670718a1c9927de288decb5657e92885.jsonl</a:t>
            </a:r>
          </a:p>
          <a:p xmlns:a="http://schemas.openxmlformats.org/drawingml/2006/main">
            <a:r>
              <a:t>- docs/v3/ocr_structure_readiness_arm7.md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§5</a:t>
            </a:r>
          </a:p>
          <a:p xmlns:a="http://schemas.openxmlformats.org/drawingml/2006/main">
            <a:r>
              <a:t>- data/v3/evaluation/product_free_rag_a6_frozen_9405401d76c87b28418b795716938a3d62578644f33f2e853ddf18fc689b65dc.jsonl</a:t>
            </a:r>
          </a:p>
          <a:p xmlns:a="http://schemas.openxmlformats.org/drawingml/2006/main">
            <a:r>
              <a:t>- data/v3/evaluation/product_free_rag_a6_freeze_manifest_4d47ef5d760fdb589fd1a81217d52908a77bd76a78b875384cd2315880c78499.json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§4-1</a:t>
            </a:r>
          </a:p>
          <a:p xmlns:a="http://schemas.openxmlformats.org/drawingml/2006/main">
            <a:r>
              <a:t>- docs/v3/hybrid_fusion_contract.md</a:t>
            </a:r>
          </a:p>
          <a:p xmlns:a="http://schemas.openxmlformats.org/drawingml/2006/main">
            <a:r>
              <a:t>- reports/v3/hybrid_grid_35ac0dbb861207a55bc380bb94dcc92a71defcc7b34e205911c8ee5f5131c093.json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§4-2–4-3</a:t>
            </a:r>
          </a:p>
          <a:p xmlns:a="http://schemas.openxmlformats.org/drawingml/2006/main">
            <a:r>
              <a:t>- reports/v3/evidence_reranker_ab_763ca7b93bec87e475a4406f24b7780ebaeadffb7a36b494c473452244d8c90f.json</a:t>
            </a:r>
          </a:p>
          <a:p xmlns:a="http://schemas.openxmlformats.org/drawingml/2006/main">
            <a:r>
              <a:t>- reports/v3/federated_retrieval_ab_0e48bfbc2d69d6b524b98b83c79d0ff296540ba05374e72cd1ec6f0616a5172c.json</a:t>
            </a:r>
          </a:p>
          <a:p xmlns:a="http://schemas.openxmlformats.org/drawingml/2006/main">
            <a:r>
              <a:t>- reports/v3/requirement_retrieval_ab_ff945c4b87b691b248ced8a3541ba53cd025f41183dd03de5dddf00ae8b45cd9.json</a:t>
            </a:r>
          </a:p>
          <a:p xmlns:a="http://schemas.openxmlformats.org/drawingml/2006/main">
            <a:r>
              <a:t>- reports/v3/corpus_hygiene_remeasurement_7cd274672459e64f083f90bae819729a6f43515e17ed476e3d25e473012708c4.json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§§2, 6–8</a:t>
            </a:r>
          </a:p>
          <a:p xmlns:a="http://schemas.openxmlformats.org/drawingml/2006/main">
            <a:r>
              <a:t>- reports/final_dev_system_comparison.json</a:t>
            </a:r>
          </a:p>
          <a:p xmlns:a="http://schemas.openxmlformats.org/drawingml/2006/main">
            <a:r>
              <a:t>- reports/v3/typed_evidence_ref_generalization_64_relation_group_currency_v2.json</a:t>
            </a:r>
          </a:p>
          <a:p xmlns:a="http://schemas.openxmlformats.org/drawingml/2006/main">
            <a:r>
              <a:t>- reports/v3/typed_evidence_ref_relation_inventory_96_20260727.json</a:t>
            </a:r>
          </a:p>
          <a:p xmlns:a="http://schemas.openxmlformats.org/drawingml/2006/main">
            <a:r>
              <a:t>- reports/v3/product_free_rag_a6_result_review_4d47ef5d760fdb589fd1a81217d52908a77bd76a78b875384cd2315880c78499.csv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§9</a:t>
            </a:r>
          </a:p>
          <a:p xmlns:a="http://schemas.openxmlformats.org/drawingml/2006/main">
            <a:r>
              <a:t>- docs/v3/product_free_rag_requirement_fanout_experiment_results_20260806.md</a:t>
            </a:r>
          </a:p>
          <a:p xmlns:a="http://schemas.openxmlformats.org/drawingml/2006/main">
            <a:r>
              <a:t>- reports/v3/product_free_rag_a6_slot25_repeat3_analysis_20260806.md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§§0, 8-2</a:t>
            </a:r>
          </a:p>
          <a:p xmlns:a="http://schemas.openxmlformats.org/drawingml/2006/main">
            <a:r>
              <a:t>- reports/v3/product_free_rag_a6_one_shot_4d47ef5d760fdb589fd1a81217d52908a77bd76a78b875384cd2315880c78499.jsonl</a:t>
            </a:r>
          </a:p>
          <a:p xmlns:a="http://schemas.openxmlformats.org/drawingml/2006/main">
            <a:r>
              <a:t>- reports/v3/product_free_rag_a6_result_review_4d47ef5d760fdb589fd1a81217d52908a77bd76a78b875384cd2315880c78499.csv</a:t>
            </a:r>
          </a:p>
          <a:p xmlns:a="http://schemas.openxmlformats.org/drawingml/2006/main">
            <a:r>
              <a:t>- docs/assets/product_free_rag_demo_20260806.png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PORTFOLIO.md §12</a:t>
            </a:r>
          </a:p>
          <a:p xmlns:a="http://schemas.openxmlformats.org/drawingml/2006/main">
            <a:r>
              <a:t>- docs/v3/corpus_refresh_round_plan.md</a:t>
            </a:r>
          </a:p>
          <a:p xmlns:a="http://schemas.openxmlformats.org/drawingml/2006/main">
            <a:r>
              <a:t>- docs/v3/ocr_structure_readiness_arm7.md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056ba21ba43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7ec2f85ea48ba" /><Relationship Type="http://schemas.openxmlformats.org/officeDocument/2006/relationships/slideLayout" Target="/ppt/slideLayouts/slideLayout1.xml" Id="Racb97dac34b04c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97dac34b04c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c69b862ad49c4" /><Relationship Type="http://schemas.openxmlformats.org/officeDocument/2006/relationships/notesSlide" Target="/ppt/notesSlides/notesSlide1.xml" Id="Rfee2e1635cda40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c9fe76ab44636" /><Relationship Type="http://schemas.openxmlformats.org/officeDocument/2006/relationships/notesSlide" Target="/ppt/notesSlides/notesSlide2.xml" Id="Rb093c924598047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4607b96064944" /><Relationship Type="http://schemas.openxmlformats.org/officeDocument/2006/relationships/notesSlide" Target="/ppt/notesSlides/notesSlide3.xml" Id="Rbde237ca8ede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cfa2afc3547f3" /><Relationship Type="http://schemas.openxmlformats.org/officeDocument/2006/relationships/notesSlide" Target="/ppt/notesSlides/notesSlide4.xml" Id="R1e69a7f3843a4c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fcfd4d073401a" /><Relationship Type="http://schemas.openxmlformats.org/officeDocument/2006/relationships/notesSlide" Target="/ppt/notesSlides/notesSlide5.xml" Id="R428b38c696c044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c0bb0899416e" /><Relationship Type="http://schemas.openxmlformats.org/officeDocument/2006/relationships/notesSlide" Target="/ppt/notesSlides/notesSlide6.xml" Id="R3011e388dfa940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2aa47f1d45ba" /><Relationship Type="http://schemas.openxmlformats.org/officeDocument/2006/relationships/notesSlide" Target="/ppt/notesSlides/notesSlide7.xml" Id="R6634ee99e01b49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623d737e84e48" /><Relationship Type="http://schemas.openxmlformats.org/officeDocument/2006/relationships/notesSlide" Target="/ppt/notesSlides/notesSlide8.xml" Id="Rdde893f89b504d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2b608a16423a" /><Relationship Type="http://schemas.openxmlformats.org/officeDocument/2006/relationships/chart" Target="/ppt/slides/charts/chart1.xml" Id="Rf82514675abe44d2" /><Relationship Type="http://schemas.openxmlformats.org/officeDocument/2006/relationships/notesSlide" Target="/ppt/notesSlides/notesSlide9.xml" Id="R070e158f667c49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c7e5d0a894d1a" /><Relationship Type="http://schemas.openxmlformats.org/officeDocument/2006/relationships/notesSlide" Target="/ppt/notesSlides/notesSlide10.xml" Id="Rfd1ceee9d40945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e83ce211e4635" /><Relationship Type="http://schemas.openxmlformats.org/officeDocument/2006/relationships/notesSlide" Target="/ppt/notesSlides/notesSlide11.xml" Id="R91265fdae74a4a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64ea284f74f99" /><Relationship Type="http://schemas.openxmlformats.org/officeDocument/2006/relationships/notesSlide" Target="/ppt/notesSlides/notesSlide12.xml" Id="R1fa12ce9d05d4a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19aa7c1ac4490" /><Relationship Type="http://schemas.openxmlformats.org/officeDocument/2006/relationships/image" Target="/ppt/media/image.jpeg" Id="R900462e8a58f48ce" /><Relationship Type="http://schemas.openxmlformats.org/officeDocument/2006/relationships/notesSlide" Target="/ppt/notesSlides/notesSlide13.xml" Id="Rebb78cd394c640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970f930824bb7" /><Relationship Type="http://schemas.openxmlformats.org/officeDocument/2006/relationships/notesSlide" Target="/ppt/notesSlides/notesSlide14.xml" Id="R83cc5001e7ae4e3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Dense</c:v>
          </c:tx>
          <c:spPr>
            <a:solidFill xmlns:a="http://schemas.openxmlformats.org/drawingml/2006/main">
              <a:srgbClr val="D0EDFA"/>
            </a:solidFill>
          </c:spPr>
          <c:cat>
            <c:strLit>
              <c:ptCount val="3"/>
              <c:pt idx="0">
                <c:v>hit@10</c:v>
              </c:pt>
              <c:pt idx="1">
                <c:v>all groups</c:v>
              </c:pt>
              <c:pt idx="2">
                <c:v>group recall</c:v>
              </c:pt>
            </c:strLit>
          </c:cat>
          <c:val>
            <c:numLit>
              <c:formatCode>General</c:formatCode>
              <c:ptCount val="3"/>
              <c:pt idx="0">
                <c:v>94.55</c:v>
              </c:pt>
              <c:pt idx="1">
                <c:v>92.73</c:v>
              </c:pt>
              <c:pt idx="2">
                <c:v>93.22</c:v>
              </c:pt>
            </c:numLit>
          </c:val>
        </c:ser>
        <c:ser>
          <c:idx val="1"/>
          <c:order val="1"/>
          <c:tx>
            <c:v>Hybrid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hit@10</c:v>
              </c:pt>
              <c:pt idx="1">
                <c:v>all groups</c:v>
              </c:pt>
              <c:pt idx="2">
                <c:v>group recall</c:v>
              </c:pt>
            </c:strLit>
          </c:cat>
          <c:val>
            <c:numLit>
              <c:formatCode>General</c:formatCode>
              <c:ptCount val="3"/>
              <c:pt idx="0">
                <c:v>96.36</c:v>
              </c:pt>
              <c:pt idx="1">
                <c:v>94.55</c:v>
              </c:pt>
              <c:pt idx="2">
                <c:v>94.92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88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2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5FB6691-D7BB-464A-9C43-64210FF6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PORTFOLIO ·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3E5159-B7F4-4B16-A42B-672B1C21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7620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DNF 공식 문서
QA/RAG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3A4F982-3C68-4006-9AF7-E41DD670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7429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정답보다 먼저, 측정을 믿을 수 있게 만들었다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B44FC952-DF9D-4AFC-9574-C1C1398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"/>
            <a:ext cx="361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로컬 · 무료 · 근거 좌표 복원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DDB16C1-0380-4BE9-9B05-4D1AFD57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0623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AFCBD87-BB9E-43B6-8930-5C8935C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한 시스템보다, 믿을 수 있는 평가 체계를 만들었다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58BA9A78-F1E9-414D-9205-991FACE7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s2-intro">
            <a:extLst xmlns:a="http://schemas.openxmlformats.org/drawingml/2006/main">
              <a:ext uri="{FF2B5EF4-FFF2-40B4-BE49-F238E27FC236}">
                <a16:creationId xmlns:a16="http://schemas.microsoft.com/office/drawing/2014/main" id="{F4015500-7602-4274-82E1-45FF670A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12776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공식 문서를 검색하고 짧은 근거를 만든 뒤 Qwen3 8B가 한 번 답한다. 서버는 숫자·날짜와 원문 좌표를 검증한다.</a:t>
            </a:r>
          </a:p>
        </p:txBody>
      </p:sp>
      <p:sp>
        <p:nvSpPr>
          <p:cNvPr id="4" name="s2-metric-bg-0">
            <a:extLst xmlns:a="http://schemas.openxmlformats.org/drawingml/2006/main">
              <a:ext uri="{FF2B5EF4-FFF2-40B4-BE49-F238E27FC236}">
                <a16:creationId xmlns:a16="http://schemas.microsoft.com/office/drawing/2014/main" id="{38EC909D-774E-4722-9DBE-20420329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2-metric-0">
            <a:extLst xmlns:a="http://schemas.openxmlformats.org/drawingml/2006/main">
              <a:ext uri="{FF2B5EF4-FFF2-40B4-BE49-F238E27FC236}">
                <a16:creationId xmlns:a16="http://schemas.microsoft.com/office/drawing/2014/main" id="{22CFE493-810C-43E4-8B0C-ED00F6A7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8956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980</a:t>
            </a:r>
          </a:p>
        </p:txBody>
      </p:sp>
      <p:sp>
        <p:nvSpPr>
          <p:cNvPr id="6" name="s2-metric-label-0">
            <a:extLst xmlns:a="http://schemas.openxmlformats.org/drawingml/2006/main">
              <a:ext uri="{FF2B5EF4-FFF2-40B4-BE49-F238E27FC236}">
                <a16:creationId xmlns:a16="http://schemas.microsoft.com/office/drawing/2014/main" id="{7DF39C1C-F77E-42EF-9D91-1177D750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895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공식 문서</a:t>
            </a:r>
          </a:p>
        </p:txBody>
      </p:sp>
      <p:sp>
        <p:nvSpPr>
          <p:cNvPr id="7" name="s2-metric-bg-1">
            <a:extLst xmlns:a="http://schemas.openxmlformats.org/drawingml/2006/main">
              <a:ext uri="{FF2B5EF4-FFF2-40B4-BE49-F238E27FC236}">
                <a16:creationId xmlns:a16="http://schemas.microsoft.com/office/drawing/2014/main" id="{121D8AED-2E1D-456E-99AF-7FAF51C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s2-metric-1">
            <a:extLst xmlns:a="http://schemas.openxmlformats.org/drawingml/2006/main">
              <a:ext uri="{FF2B5EF4-FFF2-40B4-BE49-F238E27FC236}">
                <a16:creationId xmlns:a16="http://schemas.microsoft.com/office/drawing/2014/main" id="{0254FFD9-2C26-405E-B4ED-3ADAE623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28956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3,599</a:t>
            </a:r>
          </a:p>
        </p:txBody>
      </p:sp>
      <p:sp>
        <p:nvSpPr>
          <p:cNvPr id="9" name="s2-metric-label-1">
            <a:extLst xmlns:a="http://schemas.openxmlformats.org/drawingml/2006/main">
              <a:ext uri="{FF2B5EF4-FFF2-40B4-BE49-F238E27FC236}">
                <a16:creationId xmlns:a16="http://schemas.microsoft.com/office/drawing/2014/main" id="{1281E7FC-BED4-4F28-9BE7-EB5CBF6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2895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좌표가 고정된 청크</a:t>
            </a:r>
          </a:p>
        </p:txBody>
      </p:sp>
      <p:sp>
        <p:nvSpPr>
          <p:cNvPr id="10" name="s2-metric-bg-2">
            <a:extLst xmlns:a="http://schemas.openxmlformats.org/drawingml/2006/main">
              <a:ext uri="{FF2B5EF4-FFF2-40B4-BE49-F238E27FC236}">
                <a16:creationId xmlns:a16="http://schemas.microsoft.com/office/drawing/2014/main" id="{61CB1582-1500-4EF6-8DFF-EC0090D7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5275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1" name="s2-metric-2">
            <a:extLst xmlns:a="http://schemas.openxmlformats.org/drawingml/2006/main">
              <a:ext uri="{FF2B5EF4-FFF2-40B4-BE49-F238E27FC236}">
                <a16:creationId xmlns:a16="http://schemas.microsoft.com/office/drawing/2014/main" id="{5FDDE7DA-6F22-408B-A344-B8BECB9F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28956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20/32</a:t>
            </a:r>
          </a:p>
        </p:txBody>
      </p:sp>
      <p:sp>
        <p:nvSpPr>
          <p:cNvPr id="12" name="s2-metric-label-2">
            <a:extLst xmlns:a="http://schemas.openxmlformats.org/drawingml/2006/main">
              <a:ext uri="{FF2B5EF4-FFF2-40B4-BE49-F238E27FC236}">
                <a16:creationId xmlns:a16="http://schemas.microsoft.com/office/drawing/2014/main" id="{76574E65-DE98-4BC9-AABB-97F82729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895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A6 sealed 사람 감수</a:t>
            </a:r>
          </a:p>
        </p:txBody>
      </p:sp>
    </p:spTree>
    <p:extLst>
      <p:ext uri="{BB962C8B-B14F-4D97-AF65-F5344CB8AC3E}">
        <p14:creationId xmlns:p14="http://schemas.microsoft.com/office/powerpoint/2010/main" val="497870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35106D5-6A2C-492E-BCB3-44DA544E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문서에 있는 숫자도 조건을 잃으면 오답이 된다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0FD61A0-1839-4935-A300-57BD140F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s3-head-0">
            <a:extLst xmlns:a="http://schemas.openxmlformats.org/drawingml/2006/main">
              <a:ext uri="{FF2B5EF4-FFF2-40B4-BE49-F238E27FC236}">
                <a16:creationId xmlns:a16="http://schemas.microsoft.com/office/drawing/2014/main" id="{9B8559DB-D5AD-4AF7-9655-A25C594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314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같은 이름, 다른 조건</a:t>
            </a:r>
          </a:p>
        </p:txBody>
      </p:sp>
      <p:sp>
        <p:nvSpPr>
          <p:cNvPr id="4" name="s3-body-0">
            <a:extLst xmlns:a="http://schemas.openxmlformats.org/drawingml/2006/main">
              <a:ext uri="{FF2B5EF4-FFF2-40B4-BE49-F238E27FC236}">
                <a16:creationId xmlns:a16="http://schemas.microsoft.com/office/drawing/2014/main" id="{812E19EC-E93A-4D6B-A97A-4673F1FE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3149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타이드 바운드 본체는 20초→18초.
질풍 개화 옵션은 12초→9초.
두 값이 한 청크에 함께 있어 단어와 숫자만 맞춰서는 구분할 수 없다.</a:t>
            </a:r>
          </a:p>
        </p:txBody>
      </p:sp>
      <p:sp>
        <p:nvSpPr>
          <p:cNvPr id="5" name="s3-rule-0">
            <a:extLst xmlns:a="http://schemas.openxmlformats.org/drawingml/2006/main">
              <a:ext uri="{FF2B5EF4-FFF2-40B4-BE49-F238E27FC236}">
                <a16:creationId xmlns:a16="http://schemas.microsoft.com/office/drawing/2014/main" id="{9BC1D694-138B-48A8-96D1-33F3200E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s3-head-1">
            <a:extLst xmlns:a="http://schemas.openxmlformats.org/drawingml/2006/main">
              <a:ext uri="{FF2B5EF4-FFF2-40B4-BE49-F238E27FC236}">
                <a16:creationId xmlns:a16="http://schemas.microsoft.com/office/drawing/2014/main" id="{7435DE3B-DE5D-486A-9395-FBEA2528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53149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시간과 표도 답의 일부</a:t>
            </a:r>
          </a:p>
        </p:txBody>
      </p:sp>
      <p:sp>
        <p:nvSpPr>
          <p:cNvPr id="7" name="s3-body-1">
            <a:extLst xmlns:a="http://schemas.openxmlformats.org/drawingml/2006/main">
              <a:ext uri="{FF2B5EF4-FFF2-40B4-BE49-F238E27FC236}">
                <a16:creationId xmlns:a16="http://schemas.microsoft.com/office/drawing/2014/main" id="{C2A391D6-17EA-4C7B-A85A-8BA2C42A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53149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게시일과 적용일은 다를 수 있다.
표 행의 주어는 바로 위 도입문에 있을 수 있다.
따라서 검색·생성·검증을 한 점수로 뭉치지 않고 최초 손실 단계로 나눴다.</a:t>
            </a:r>
          </a:p>
        </p:txBody>
      </p:sp>
      <p:sp>
        <p:nvSpPr>
          <p:cNvPr id="8" name="s3-rule-1">
            <a:extLst xmlns:a="http://schemas.openxmlformats.org/drawingml/2006/main">
              <a:ext uri="{FF2B5EF4-FFF2-40B4-BE49-F238E27FC236}">
                <a16:creationId xmlns:a16="http://schemas.microsoft.com/office/drawing/2014/main" id="{397174C9-1BB6-43B4-8371-82C9A151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5247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D96D1BC-155A-4D4F-9AF2-3E68EA6C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파이프라인은 세 책임으로 단순화했다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4FFF831E-FC41-4254-804E-393EB478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cxnSp>
        <p:nvCxnSpPr>
          <p:cNvPr id="18" name="s4-timeline-line"/>
          <p:cNvCxnSpPr/>
          <p:nvPr/>
        </p:nvCxnSpPr>
        <p:spPr>
          <a:xfrm xmlns:a="http://schemas.openxmlformats.org/drawingml/2006/main">
            <a:off x="533400" y="3219450"/>
            <a:ext cx="10763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s4-node-0">
            <a:extLst xmlns:a="http://schemas.openxmlformats.org/drawingml/2006/main">
              <a:ext uri="{FF2B5EF4-FFF2-40B4-BE49-F238E27FC236}">
                <a16:creationId xmlns:a16="http://schemas.microsoft.com/office/drawing/2014/main" id="{238CA3CB-0E8B-4454-A01D-366247AF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5" name="s4-label-0">
            <a:extLst xmlns:a="http://schemas.openxmlformats.org/drawingml/2006/main">
              <a:ext uri="{FF2B5EF4-FFF2-40B4-BE49-F238E27FC236}">
                <a16:creationId xmlns:a16="http://schemas.microsoft.com/office/drawing/2014/main" id="{F074644D-3C16-4863-9859-BD3B266D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RETRIEVE</a:t>
            </a:r>
          </a:p>
        </p:txBody>
      </p:sp>
      <p:sp>
        <p:nvSpPr>
          <p:cNvPr id="6" name="s4-head-0">
            <a:extLst xmlns:a="http://schemas.openxmlformats.org/drawingml/2006/main">
              <a:ext uri="{FF2B5EF4-FFF2-40B4-BE49-F238E27FC236}">
                <a16:creationId xmlns:a16="http://schemas.microsoft.com/office/drawing/2014/main" id="{F33DB12A-7520-4C69-BACD-1904B49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후보를 넓게 찾는다</a:t>
            </a:r>
          </a:p>
        </p:txBody>
      </p:sp>
      <p:sp>
        <p:nvSpPr>
          <p:cNvPr id="7" name="s4-body-0">
            <a:extLst xmlns:a="http://schemas.openxmlformats.org/drawingml/2006/main">
              <a:ext uri="{FF2B5EF4-FFF2-40B4-BE49-F238E27FC236}">
                <a16:creationId xmlns:a16="http://schemas.microsoft.com/office/drawing/2014/main" id="{5B2E8A3B-30D7-4E13-BF4E-5C022CAD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BM25 20 + BGE-M3 20
요구 절별 union
parent당 최대 2개</a:t>
            </a:r>
          </a:p>
        </p:txBody>
      </p:sp>
      <p:sp>
        <p:nvSpPr>
          <p:cNvPr id="8" name="s4-node-1">
            <a:extLst xmlns:a="http://schemas.openxmlformats.org/drawingml/2006/main">
              <a:ext uri="{FF2B5EF4-FFF2-40B4-BE49-F238E27FC236}">
                <a16:creationId xmlns:a16="http://schemas.microsoft.com/office/drawing/2014/main" id="{4DECAD8B-4A0C-4BA1-8318-2503D945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9" name="s4-label-1">
            <a:extLst xmlns:a="http://schemas.openxmlformats.org/drawingml/2006/main">
              <a:ext uri="{FF2B5EF4-FFF2-40B4-BE49-F238E27FC236}">
                <a16:creationId xmlns:a16="http://schemas.microsoft.com/office/drawing/2014/main" id="{E861D415-335F-4390-809D-562161C3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GROUND</a:t>
            </a:r>
          </a:p>
        </p:txBody>
      </p:sp>
      <p:sp>
        <p:nvSpPr>
          <p:cNvPr id="10" name="s4-head-1">
            <a:extLst xmlns:a="http://schemas.openxmlformats.org/drawingml/2006/main">
              <a:ext uri="{FF2B5EF4-FFF2-40B4-BE49-F238E27FC236}">
                <a16:creationId xmlns:a16="http://schemas.microsoft.com/office/drawing/2014/main" id="{3560B4B2-5D1F-4FA9-BAA2-F0E25B73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근거를 짧게 만든다</a:t>
            </a:r>
          </a:p>
        </p:txBody>
      </p:sp>
      <p:sp>
        <p:nvSpPr>
          <p:cNvPr id="11" name="s4-body-1">
            <a:extLst xmlns:a="http://schemas.openxmlformats.org/drawingml/2006/main">
              <a:ext uri="{FF2B5EF4-FFF2-40B4-BE49-F238E27FC236}">
                <a16:creationId xmlns:a16="http://schemas.microsoft.com/office/drawing/2014/main" id="{D1AF1402-44E4-438F-9982-F5FCE2E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BGE reranker
atomic evidence
E1~E8</a:t>
            </a:r>
          </a:p>
        </p:txBody>
      </p:sp>
      <p:sp>
        <p:nvSpPr>
          <p:cNvPr id="12" name="s4-node-2">
            <a:extLst xmlns:a="http://schemas.openxmlformats.org/drawingml/2006/main">
              <a:ext uri="{FF2B5EF4-FFF2-40B4-BE49-F238E27FC236}">
                <a16:creationId xmlns:a16="http://schemas.microsoft.com/office/drawing/2014/main" id="{893A21B7-8C04-4500-82B4-80ACFE0C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s4-label-2">
            <a:extLst xmlns:a="http://schemas.openxmlformats.org/drawingml/2006/main">
              <a:ext uri="{FF2B5EF4-FFF2-40B4-BE49-F238E27FC236}">
                <a16:creationId xmlns:a16="http://schemas.microsoft.com/office/drawing/2014/main" id="{FF78A0F2-0055-4B73-8FFD-91D8874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ANSWER</a:t>
            </a:r>
          </a:p>
        </p:txBody>
      </p:sp>
      <p:sp>
        <p:nvSpPr>
          <p:cNvPr id="14" name="s4-head-2">
            <a:extLst xmlns:a="http://schemas.openxmlformats.org/drawingml/2006/main">
              <a:ext uri="{FF2B5EF4-FFF2-40B4-BE49-F238E27FC236}">
                <a16:creationId xmlns:a16="http://schemas.microsoft.com/office/drawing/2014/main" id="{B81B3C5D-01C2-4E85-964D-DAB4F24F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한 번 답하고 복원한다</a:t>
            </a:r>
          </a:p>
        </p:txBody>
      </p:sp>
      <p:sp>
        <p:nvSpPr>
          <p:cNvPr id="15" name="s4-body-2">
            <a:extLst xmlns:a="http://schemas.openxmlformats.org/drawingml/2006/main">
              <a:ext uri="{FF2B5EF4-FFF2-40B4-BE49-F238E27FC236}">
                <a16:creationId xmlns:a16="http://schemas.microsoft.com/office/drawing/2014/main" id="{2152E3C9-CF20-4DFB-A838-272042D1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Qwen3 8B 1회
최소 verifier
서버 인용·표 복원</a:t>
            </a:r>
          </a:p>
        </p:txBody>
      </p:sp>
    </p:spTree>
    <p:extLst>
      <p:ext uri="{BB962C8B-B14F-4D97-AF65-F5344CB8AC3E}">
        <p14:creationId xmlns:p14="http://schemas.microsoft.com/office/powerpoint/2010/main" val="1136456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DB1D7FC-A5E8-4A86-A14C-7C344D3A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데이터 파이프라인은 발견과 수집을 분리했다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16626900-69AB-4DB6-8ED9-7652B6C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s5-kicker-0">
            <a:extLst xmlns:a="http://schemas.openxmlformats.org/drawingml/2006/main">
              <a:ext uri="{FF2B5EF4-FFF2-40B4-BE49-F238E27FC236}">
                <a16:creationId xmlns:a16="http://schemas.microsoft.com/office/drawing/2014/main" id="{24F51569-AEA9-47CC-B93A-2BCB87A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01 DISCOVER</a:t>
            </a:r>
          </a:p>
        </p:txBody>
      </p:sp>
      <p:sp>
        <p:nvSpPr>
          <p:cNvPr id="4" name="s5-head-0">
            <a:extLst xmlns:a="http://schemas.openxmlformats.org/drawingml/2006/main">
              <a:ext uri="{FF2B5EF4-FFF2-40B4-BE49-F238E27FC236}">
                <a16:creationId xmlns:a16="http://schemas.microsoft.com/office/drawing/2014/main" id="{0F137B89-9D3B-4CE6-AE1D-06B491E9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24125"/>
            <a:ext cx="3333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공식 URL을 먼저 고정</a:t>
            </a:r>
          </a:p>
        </p:txBody>
      </p:sp>
      <p:sp>
        <p:nvSpPr>
          <p:cNvPr id="5" name="s5-body-0">
            <a:extLst xmlns:a="http://schemas.openxmlformats.org/drawingml/2006/main">
              <a:ext uri="{FF2B5EF4-FFF2-40B4-BE49-F238E27FC236}">
                <a16:creationId xmlns:a16="http://schemas.microsoft.com/office/drawing/2014/main" id="{B01C68C6-3017-4A8C-8A04-DC32CA9C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게시판·가이드·FAQ·정책·/pg/ 페이지를 목록화하고 누락과 중복을 분리했다.</a:t>
            </a:r>
          </a:p>
        </p:txBody>
      </p:sp>
      <p:sp>
        <p:nvSpPr>
          <p:cNvPr id="6" name="s5-kicker-1">
            <a:extLst xmlns:a="http://schemas.openxmlformats.org/drawingml/2006/main">
              <a:ext uri="{FF2B5EF4-FFF2-40B4-BE49-F238E27FC236}">
                <a16:creationId xmlns:a16="http://schemas.microsoft.com/office/drawing/2014/main" id="{7E8FA166-B25D-41AD-B368-66864E41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02 COLLECT</a:t>
            </a:r>
          </a:p>
        </p:txBody>
      </p:sp>
      <p:sp>
        <p:nvSpPr>
          <p:cNvPr id="7" name="s5-head-1">
            <a:extLst xmlns:a="http://schemas.openxmlformats.org/drawingml/2006/main">
              <a:ext uri="{FF2B5EF4-FFF2-40B4-BE49-F238E27FC236}">
                <a16:creationId xmlns:a16="http://schemas.microsoft.com/office/drawing/2014/main" id="{AA9B417A-ABC3-43CE-B58C-F7E08BD1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24125"/>
            <a:ext cx="3333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페이지별 파서 적용</a:t>
            </a:r>
          </a:p>
        </p:txBody>
      </p:sp>
      <p:sp>
        <p:nvSpPr>
          <p:cNvPr id="8" name="s5-body-1">
            <a:extLst xmlns:a="http://schemas.openxmlformats.org/drawingml/2006/main">
              <a:ext uri="{FF2B5EF4-FFF2-40B4-BE49-F238E27FC236}">
                <a16:creationId xmlns:a16="http://schemas.microsoft.com/office/drawing/2014/main" id="{17E8A272-F56E-4BBB-8224-F641AB30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19500"/>
            <a:ext cx="33337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제목·revision·표·heading·내비게이션 잔여물을 검사하고 실패 문서는 제외했다.</a:t>
            </a:r>
          </a:p>
        </p:txBody>
      </p:sp>
      <p:sp>
        <p:nvSpPr>
          <p:cNvPr id="9" name="s5-kicker-2">
            <a:extLst xmlns:a="http://schemas.openxmlformats.org/drawingml/2006/main">
              <a:ext uri="{FF2B5EF4-FFF2-40B4-BE49-F238E27FC236}">
                <a16:creationId xmlns:a16="http://schemas.microsoft.com/office/drawing/2014/main" id="{06E43980-DC47-4AAC-8C41-880D3ED8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03 FREEZE</a:t>
            </a:r>
          </a:p>
        </p:txBody>
      </p:sp>
      <p:sp>
        <p:nvSpPr>
          <p:cNvPr id="10" name="s5-head-2">
            <a:extLst xmlns:a="http://schemas.openxmlformats.org/drawingml/2006/main">
              <a:ext uri="{FF2B5EF4-FFF2-40B4-BE49-F238E27FC236}">
                <a16:creationId xmlns:a16="http://schemas.microsoft.com/office/drawing/2014/main" id="{CED17303-DCD3-4957-9E30-BEE7862E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3333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같은 시점으로 재현</a:t>
            </a:r>
          </a:p>
        </p:txBody>
      </p:sp>
      <p:sp>
        <p:nvSpPr>
          <p:cNvPr id="11" name="s5-body-2">
            <a:extLst xmlns:a="http://schemas.openxmlformats.org/drawingml/2006/main">
              <a:ext uri="{FF2B5EF4-FFF2-40B4-BE49-F238E27FC236}">
                <a16:creationId xmlns:a16="http://schemas.microsoft.com/office/drawing/2014/main" id="{9210D2D4-9885-4921-BAE5-29FBA441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19500"/>
            <a:ext cx="3333750" cy="188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2026-07-17 스냅샷
문서 980 · 청크 3,599
동일 라운드 fetched_at 고정</a:t>
            </a:r>
          </a:p>
        </p:txBody>
      </p:sp>
    </p:spTree>
    <p:extLst>
      <p:ext uri="{BB962C8B-B14F-4D97-AF65-F5344CB8AC3E}">
        <p14:creationId xmlns:p14="http://schemas.microsoft.com/office/powerpoint/2010/main" val="1287358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641AA40F-E44E-485E-B655-4E03B61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본문을 자르는 규칙도 근거 계약이다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3B029CF5-2C86-4A6E-BCF4-C198B283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s6-intro">
            <a:extLst xmlns:a="http://schemas.openxmlformats.org/drawingml/2006/main">
              <a:ext uri="{FF2B5EF4-FFF2-40B4-BE49-F238E27FC236}">
                <a16:creationId xmlns:a16="http://schemas.microsoft.com/office/drawing/2014/main" id="{2CA8A47A-712E-4A15-8A2B-D70BFB80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문서 내용을 잃지 않으면서 검색 단위를 작게 만드는 것이 목표였다.</a:t>
            </a:r>
          </a:p>
        </p:txBody>
      </p:sp>
      <p:sp>
        <p:nvSpPr>
          <p:cNvPr id="4" name="s6-panel-0">
            <a:extLst xmlns:a="http://schemas.openxmlformats.org/drawingml/2006/main">
              <a:ext uri="{FF2B5EF4-FFF2-40B4-BE49-F238E27FC236}">
                <a16:creationId xmlns:a16="http://schemas.microsoft.com/office/drawing/2014/main" id="{626A331E-95F1-4DE6-A946-388153DB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6-panel-head-0">
            <a:extLst xmlns:a="http://schemas.openxmlformats.org/drawingml/2006/main">
              <a:ext uri="{FF2B5EF4-FFF2-40B4-BE49-F238E27FC236}">
                <a16:creationId xmlns:a16="http://schemas.microsoft.com/office/drawing/2014/main" id="{286F2F16-DF2A-4B66-8169-19306AC0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표·시간 구조 보존</a:t>
            </a:r>
          </a:p>
        </p:txBody>
      </p:sp>
      <p:sp>
        <p:nvSpPr>
          <p:cNvPr id="6" name="s6-panel-body-0">
            <a:extLst xmlns:a="http://schemas.openxmlformats.org/drawingml/2006/main">
              <a:ext uri="{FF2B5EF4-FFF2-40B4-BE49-F238E27FC236}">
                <a16:creationId xmlns:a16="http://schemas.microsoft.com/office/drawing/2014/main" id="{48892FF7-A314-4A2C-8533-EC480079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complete table + atomic row
status · revision · valid_from/to</a:t>
            </a:r>
          </a:p>
        </p:txBody>
      </p:sp>
      <p:sp>
        <p:nvSpPr>
          <p:cNvPr id="7" name="s6-detail-0">
            <a:extLst xmlns:a="http://schemas.openxmlformats.org/drawingml/2006/main">
              <a:ext uri="{FF2B5EF4-FFF2-40B4-BE49-F238E27FC236}">
                <a16:creationId xmlns:a16="http://schemas.microsoft.com/office/drawing/2014/main" id="{AE69C669-C30D-4D06-853F-7C91B43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현재·최신 집합 질문은 metadata 계산, 특정 사실은 일반 RAG로 분리한다.</a:t>
            </a:r>
          </a:p>
        </p:txBody>
      </p:sp>
      <p:sp>
        <p:nvSpPr>
          <p:cNvPr id="8" name="s6-panel-1">
            <a:extLst xmlns:a="http://schemas.openxmlformats.org/drawingml/2006/main">
              <a:ext uri="{FF2B5EF4-FFF2-40B4-BE49-F238E27FC236}">
                <a16:creationId xmlns:a16="http://schemas.microsoft.com/office/drawing/2014/main" id="{8767E4B4-7FC4-446A-946D-F44920D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s6-panel-head-1">
            <a:extLst xmlns:a="http://schemas.openxmlformats.org/drawingml/2006/main">
              <a:ext uri="{FF2B5EF4-FFF2-40B4-BE49-F238E27FC236}">
                <a16:creationId xmlns:a16="http://schemas.microsoft.com/office/drawing/2014/main" id="{A7D2A073-FE7B-4E94-A19D-F0FCF9FF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안정적인 chunk_id</a:t>
            </a:r>
          </a:p>
        </p:txBody>
      </p:sp>
      <p:sp>
        <p:nvSpPr>
          <p:cNvPr id="10" name="s6-panel-body-1">
            <a:extLst xmlns:a="http://schemas.openxmlformats.org/drawingml/2006/main">
              <a:ext uri="{FF2B5EF4-FFF2-40B4-BE49-F238E27FC236}">
                <a16:creationId xmlns:a16="http://schemas.microsoft.com/office/drawing/2014/main" id="{07E6E510-340B-4C9B-8CC1-E5BC907E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parent + offset + text hash + version</a:t>
            </a:r>
          </a:p>
        </p:txBody>
      </p:sp>
      <p:sp>
        <p:nvSpPr>
          <p:cNvPr id="11" name="s6-detail-1">
            <a:extLst xmlns:a="http://schemas.openxmlformats.org/drawingml/2006/main">
              <a:ext uri="{FF2B5EF4-FFF2-40B4-BE49-F238E27FC236}">
                <a16:creationId xmlns:a16="http://schemas.microsoft.com/office/drawing/2014/main" id="{5D62A4D4-D4EB-4B77-A0CD-452CF8C9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새 문서를 더해도 기존 문서가 같으면 ID와 봉인 좌표가 유지된다.</a:t>
            </a:r>
          </a:p>
        </p:txBody>
      </p:sp>
    </p:spTree>
    <p:extLst>
      <p:ext uri="{BB962C8B-B14F-4D97-AF65-F5344CB8AC3E}">
        <p14:creationId xmlns:p14="http://schemas.microsoft.com/office/powerpoint/2010/main" val="2086215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3FA884F-A1A3-4F47-8F33-A0BE00BA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93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OCR은 더 많은 글자를 주었지만 더 믿을 수 있지는 않았다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5BEBEAA8-64B0-4A2F-BDA0-C6DDD561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s7-intro">
            <a:extLst xmlns:a="http://schemas.openxmlformats.org/drawingml/2006/main">
              <a:ext uri="{FF2B5EF4-FFF2-40B4-BE49-F238E27FC236}">
                <a16:creationId xmlns:a16="http://schemas.microsoft.com/office/drawing/2014/main" id="{36C2DBBB-101A-4FE6-87DD-35F858D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실제 검색 청크에서 DOM과 visual_ocr를 분리해 exact occurrence를 셌다. 오류가 의미를 바꿀 수 있어 OCR 22개는 색인에서 격리했다.</a:t>
            </a:r>
          </a:p>
        </p:txBody>
      </p:sp>
      <p:graphicFrame>
        <p:nvGraphicFramePr>
          <p:cNvPr id="8" name="s7-table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686050"/>
                <a:gridCol w="2686050"/>
              </a:tblGrid>
              <a:tr h="551089">
                <a:tc>
                  <a:txBody>
                    <a:bodyPr/>
                    <a:lstStyle/>
                    <a:p>
                      <a:r>
                        <a:t>표기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OCR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t>천해천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t>천해선·전해선·전해전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t>캐릭터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2,432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t>개릭터·개력터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t>인파이터(여)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  <a:tr h="551089">
                <a:tc>
                  <a:txBody>
                    <a:bodyPr/>
                    <a:lstStyle/>
                    <a:p>
                      <a:r>
                        <a:t>인파이터(어)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837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2D1A582B-7A4A-4226-AA78-E6D456FC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평가는 실행 전에 성공 조건부터 고정했다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96F2ED1D-151C-43F2-8326-9EDAEAAC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cxnSp>
        <p:nvCxnSpPr>
          <p:cNvPr id="18" name="s8-timeline-line"/>
          <p:cNvCxnSpPr/>
          <p:nvPr/>
        </p:nvCxnSpPr>
        <p:spPr>
          <a:xfrm xmlns:a="http://schemas.openxmlformats.org/drawingml/2006/main">
            <a:off x="533400" y="3219450"/>
            <a:ext cx="10763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s8-node-0">
            <a:extLst xmlns:a="http://schemas.openxmlformats.org/drawingml/2006/main">
              <a:ext uri="{FF2B5EF4-FFF2-40B4-BE49-F238E27FC236}">
                <a16:creationId xmlns:a16="http://schemas.microsoft.com/office/drawing/2014/main" id="{A6A4D90A-2F82-421B-BB8E-4A973EE5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5" name="s8-label-0">
            <a:extLst xmlns:a="http://schemas.openxmlformats.org/drawingml/2006/main">
              <a:ext uri="{FF2B5EF4-FFF2-40B4-BE49-F238E27FC236}">
                <a16:creationId xmlns:a16="http://schemas.microsoft.com/office/drawing/2014/main" id="{06A03A7F-7DF3-4780-9927-849667D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CONTRACT</a:t>
            </a:r>
          </a:p>
        </p:txBody>
      </p:sp>
      <p:sp>
        <p:nvSpPr>
          <p:cNvPr id="6" name="s8-head-0">
            <a:extLst xmlns:a="http://schemas.openxmlformats.org/drawingml/2006/main">
              <a:ext uri="{FF2B5EF4-FFF2-40B4-BE49-F238E27FC236}">
                <a16:creationId xmlns:a16="http://schemas.microsoft.com/office/drawing/2014/main" id="{0DC837B7-AECD-43A7-9D95-C06B02D4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문항과 gate 작성</a:t>
            </a:r>
          </a:p>
        </p:txBody>
      </p:sp>
      <p:sp>
        <p:nvSpPr>
          <p:cNvPr id="7" name="s8-body-0">
            <a:extLst xmlns:a="http://schemas.openxmlformats.org/drawingml/2006/main">
              <a:ext uri="{FF2B5EF4-FFF2-40B4-BE49-F238E27FC236}">
                <a16:creationId xmlns:a16="http://schemas.microsoft.com/office/drawing/2014/main" id="{A925D86D-1BA0-4721-8D5A-CF4BE2CF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사람 검수
성공·회귀·안전 조건
평가자도 명시</a:t>
            </a:r>
          </a:p>
        </p:txBody>
      </p:sp>
      <p:sp>
        <p:nvSpPr>
          <p:cNvPr id="8" name="s8-node-1">
            <a:extLst xmlns:a="http://schemas.openxmlformats.org/drawingml/2006/main">
              <a:ext uri="{FF2B5EF4-FFF2-40B4-BE49-F238E27FC236}">
                <a16:creationId xmlns:a16="http://schemas.microsoft.com/office/drawing/2014/main" id="{5C99F09D-40F0-4CAE-98FA-09FD57AF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9" name="s8-label-1">
            <a:extLst xmlns:a="http://schemas.openxmlformats.org/drawingml/2006/main">
              <a:ext uri="{FF2B5EF4-FFF2-40B4-BE49-F238E27FC236}">
                <a16:creationId xmlns:a16="http://schemas.microsoft.com/office/drawing/2014/main" id="{60D0187D-AA4B-4B01-8A04-DEF6838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SEAL</a:t>
            </a:r>
          </a:p>
        </p:txBody>
      </p:sp>
      <p:sp>
        <p:nvSpPr>
          <p:cNvPr id="10" name="s8-head-1">
            <a:extLst xmlns:a="http://schemas.openxmlformats.org/drawingml/2006/main">
              <a:ext uri="{FF2B5EF4-FFF2-40B4-BE49-F238E27FC236}">
                <a16:creationId xmlns:a16="http://schemas.microsoft.com/office/drawing/2014/main" id="{1B035155-16FD-4F23-A592-118618F2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SHA로 동결</a:t>
            </a:r>
          </a:p>
        </p:txBody>
      </p:sp>
      <p:sp>
        <p:nvSpPr>
          <p:cNvPr id="11" name="s8-body-1">
            <a:extLst xmlns:a="http://schemas.openxmlformats.org/drawingml/2006/main">
              <a:ext uri="{FF2B5EF4-FFF2-40B4-BE49-F238E27FC236}">
                <a16:creationId xmlns:a16="http://schemas.microsoft.com/office/drawing/2014/main" id="{3C31BC92-87D7-4FD6-8196-998D8BD9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JSONL + manifest
출력 보기 전 고정
변경 금지</a:t>
            </a:r>
          </a:p>
        </p:txBody>
      </p:sp>
      <p:sp>
        <p:nvSpPr>
          <p:cNvPr id="12" name="s8-node-2">
            <a:extLst xmlns:a="http://schemas.openxmlformats.org/drawingml/2006/main">
              <a:ext uri="{FF2B5EF4-FFF2-40B4-BE49-F238E27FC236}">
                <a16:creationId xmlns:a16="http://schemas.microsoft.com/office/drawing/2014/main" id="{95585E44-863E-4398-B90D-8F8FE2E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s8-label-2">
            <a:extLst xmlns:a="http://schemas.openxmlformats.org/drawingml/2006/main">
              <a:ext uri="{FF2B5EF4-FFF2-40B4-BE49-F238E27FC236}">
                <a16:creationId xmlns:a16="http://schemas.microsoft.com/office/drawing/2014/main" id="{5ADFE23D-9959-4555-B6CF-E826007C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ONE-SHOT</a:t>
            </a:r>
          </a:p>
        </p:txBody>
      </p:sp>
      <p:sp>
        <p:nvSpPr>
          <p:cNvPr id="14" name="s8-head-2">
            <a:extLst xmlns:a="http://schemas.openxmlformats.org/drawingml/2006/main">
              <a:ext uri="{FF2B5EF4-FFF2-40B4-BE49-F238E27FC236}">
                <a16:creationId xmlns:a16="http://schemas.microsoft.com/office/drawing/2014/main" id="{6DE6D4E2-6CBC-4228-A444-F0DA7E1A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한 번 실행</a:t>
            </a:r>
          </a:p>
        </p:txBody>
      </p:sp>
      <p:sp>
        <p:nvSpPr>
          <p:cNvPr id="15" name="s8-body-2">
            <a:extLst xmlns:a="http://schemas.openxmlformats.org/drawingml/2006/main">
              <a:ext uri="{FF2B5EF4-FFF2-40B4-BE49-F238E27FC236}">
                <a16:creationId xmlns:a16="http://schemas.microsoft.com/office/drawing/2014/main" id="{8036A45D-6B73-4659-961F-B8B19446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공식 결과는 sealed
후속 원인 분석은 adaptive
점수 대체 금지</a:t>
            </a:r>
          </a:p>
        </p:txBody>
      </p:sp>
    </p:spTree>
    <p:extLst>
      <p:ext uri="{BB962C8B-B14F-4D97-AF65-F5344CB8AC3E}">
        <p14:creationId xmlns:p14="http://schemas.microsoft.com/office/powerpoint/2010/main" val="19702079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3337C48E-0BBA-40EC-A33C-7D93455D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17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Hybrid는 평균을 올렸지만 모든 승격 gate를 넘지는 못했다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5738BDD4-5C1F-41B6-B915-EB85309A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s9-callout-1">
            <a:extLst xmlns:a="http://schemas.openxmlformats.org/drawingml/2006/main">
              <a:ext uri="{FF2B5EF4-FFF2-40B4-BE49-F238E27FC236}">
                <a16:creationId xmlns:a16="http://schemas.microsoft.com/office/drawing/2014/main" id="{5478DBEA-3A92-45DB-A32D-518B344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4000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s9-dense-head">
            <a:extLst xmlns:a="http://schemas.openxmlformats.org/drawingml/2006/main">
              <a:ext uri="{FF2B5EF4-FFF2-40B4-BE49-F238E27FC236}">
                <a16:creationId xmlns:a16="http://schemas.microsoft.com/office/drawing/2014/main" id="{7A2BFBBA-E4BE-4720-A113-74A301A4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Dense</a:t>
            </a:r>
          </a:p>
        </p:txBody>
      </p:sp>
      <p:sp>
        <p:nvSpPr>
          <p:cNvPr id="5" name="s9-dense-body">
            <a:extLst xmlns:a="http://schemas.openxmlformats.org/drawingml/2006/main">
              <a:ext uri="{FF2B5EF4-FFF2-40B4-BE49-F238E27FC236}">
                <a16:creationId xmlns:a16="http://schemas.microsoft.com/office/drawing/2014/main" id="{A9DC4B9C-DDE3-4F36-83A8-A11DFE14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9080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의미 유사도 기준선</a:t>
            </a:r>
          </a:p>
        </p:txBody>
      </p:sp>
      <p:sp>
        <p:nvSpPr>
          <p:cNvPr id="6" name="s9-callout-2">
            <a:extLst xmlns:a="http://schemas.openxmlformats.org/drawingml/2006/main">
              <a:ext uri="{FF2B5EF4-FFF2-40B4-BE49-F238E27FC236}">
                <a16:creationId xmlns:a16="http://schemas.microsoft.com/office/drawing/2014/main" id="{D22FFE5D-5808-4970-AF23-9F7C4759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7" name="s9-hybrid-head">
            <a:extLst xmlns:a="http://schemas.openxmlformats.org/drawingml/2006/main">
              <a:ext uri="{FF2B5EF4-FFF2-40B4-BE49-F238E27FC236}">
                <a16:creationId xmlns:a16="http://schemas.microsoft.com/office/drawing/2014/main" id="{8ED325D3-CCB2-4EE9-8426-0CF750F2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3333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Hybrid 0.75 / 0.25</a:t>
            </a:r>
          </a:p>
        </p:txBody>
      </p:sp>
      <p:sp>
        <p:nvSpPr>
          <p:cNvPr id="8" name="s9-hybrid-body">
            <a:extLst xmlns:a="http://schemas.openxmlformats.org/drawingml/2006/main">
              <a:ext uri="{FF2B5EF4-FFF2-40B4-BE49-F238E27FC236}">
                <a16:creationId xmlns:a16="http://schemas.microsoft.com/office/drawing/2014/main" id="{E8FA540F-F2EB-41ED-98E2-9133808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52950"/>
            <a:ext cx="333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세 지표는 상승했지만
최저 출처 엄격 개선 gate는 실패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504950"/>
          <a:ext xmlns:a="http://schemas.openxmlformats.org/drawingml/2006/main" cx="638175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2514675abe44d2"/>
          </a:graphicData>
        </a:graphic>
      </p:graphicFrame>
    </p:spTree>
    <p:extLst>
      <p:ext uri="{BB962C8B-B14F-4D97-AF65-F5344CB8AC3E}">
        <p14:creationId xmlns:p14="http://schemas.microsoft.com/office/powerpoint/2010/main" val="1391792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FA424BE2-6223-4998-80F5-93D33AD0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검색 누락을 줄여도 오답이 늘면 채택하지 않았다</a:t>
            </a:r>
          </a:p>
        </p:txBody>
      </p:sp>
      <p:sp>
        <p:nvSpPr>
          <p:cNvPr id="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1BF04457-105C-44E4-B948-EAE525AF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10</a:t>
            </a:r>
          </a:p>
        </p:txBody>
      </p:sp>
      <p:sp>
        <p:nvSpPr>
          <p:cNvPr id="3" name="s10-intro">
            <a:extLst xmlns:a="http://schemas.openxmlformats.org/drawingml/2006/main">
              <a:ext uri="{FF2B5EF4-FFF2-40B4-BE49-F238E27FC236}">
                <a16:creationId xmlns:a16="http://schemas.microsoft.com/office/drawing/2014/main" id="{82797F9F-9784-4C97-8BB3-2C67AD7D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reranker는 recall을 유지했지만 production 정밀도 gate를 넘지 못했다. 후보 확장 실험은 일부 누락을 복구하는 대신 false-full을 늘렸다.</a:t>
            </a:r>
          </a:p>
        </p:txBody>
      </p:sp>
      <p:graphicFrame>
        <p:nvGraphicFramePr>
          <p:cNvPr id="8" name="s10-table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191250"/>
                <a:gridCol w="2705100"/>
              </a:tblGrid>
              <a:tr h="771525">
                <a:tc>
                  <a:txBody>
                    <a:bodyPr/>
                    <a:lstStyle/>
                    <a:p>
                      <a:r>
                        <a:t>실험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핵심 관찰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판정</a:t>
                      </a:r>
                    </a:p>
                  </a:txBody>
                  <a:tcPr marL="91440" marR="91440" marT="45720" marB="45720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t>reranker 3/8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recall 0.983051 · precision 0.290000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production NO-GO</a:t>
                      </a:r>
                    </a:p>
                  </a:txBody>
                  <a:tcPr marL="91440" marR="91440" marT="45720" marB="45720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t>federated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grounded 73→63 · false-full 9→18~19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NO-GO</a:t>
                      </a:r>
                    </a:p>
                  </a:txBody>
                  <a:tcPr marL="91440" marR="91440" marT="45720" marB="45720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t>requirement query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누락 복구 0/7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NO-GO</a:t>
                      </a:r>
                    </a:p>
                  </a:txBody>
                  <a:tcPr marL="91440" marR="91440" marT="45720" marB="45720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t>corpus hygiene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grounded 73→72 · false-full 9→10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NO-GO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657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3DD2B872-9534-44B8-927A-EEACCA1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세 번의 방향 전환은 실패를 숨기지 않은 결과다</a:t>
            </a:r>
          </a:p>
        </p:txBody>
      </p:sp>
      <p:sp>
        <p:nvSpPr>
          <p:cNvPr id="2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C78E2C64-789B-4BCF-9376-56B4920F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11</a:t>
            </a:r>
          </a:p>
        </p:txBody>
      </p:sp>
      <p:cxnSp>
        <p:nvCxnSpPr>
          <p:cNvPr id="21" name="s11-line"/>
          <p:cNvCxnSpPr/>
          <p:nvPr/>
        </p:nvCxnSpPr>
        <p:spPr>
          <a:xfrm xmlns:a="http://schemas.openxmlformats.org/drawingml/2006/main">
            <a:off x="514350" y="5600700"/>
            <a:ext cx="107823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s11-card-0">
            <a:extLst xmlns:a="http://schemas.openxmlformats.org/drawingml/2006/main">
              <a:ext uri="{FF2B5EF4-FFF2-40B4-BE49-F238E27FC236}">
                <a16:creationId xmlns:a16="http://schemas.microsoft.com/office/drawing/2014/main" id="{83D334D4-AA4C-4F89-95A1-8D09E32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11-head-0">
            <a:extLst xmlns:a="http://schemas.openxmlformats.org/drawingml/2006/main">
              <a:ext uri="{FF2B5EF4-FFF2-40B4-BE49-F238E27FC236}">
                <a16:creationId xmlns:a16="http://schemas.microsoft.com/office/drawing/2014/main" id="{3FA0F308-5590-4319-9235-12A69E5C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SLM 파인튜닝</a:t>
            </a:r>
          </a:p>
        </p:txBody>
      </p:sp>
      <p:sp>
        <p:nvSpPr>
          <p:cNvPr id="6" name="s11-body-0">
            <a:extLst xmlns:a="http://schemas.openxmlformats.org/drawingml/2006/main">
              <a:ext uri="{FF2B5EF4-FFF2-40B4-BE49-F238E27FC236}">
                <a16:creationId xmlns:a16="http://schemas.microsoft.com/office/drawing/2014/main" id="{5E86A839-06E8-4140-82D2-DC8B3070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9337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구조와 Partial은 개선.
하지만 사전 gate 7/8·14/21에 실제 5/8·8/21.
blind 100은 열지 않았다.</a:t>
            </a:r>
          </a:p>
        </p:txBody>
      </p:sp>
      <p:sp>
        <p:nvSpPr>
          <p:cNvPr id="7" name="s11-dot-0">
            <a:extLst xmlns:a="http://schemas.openxmlformats.org/drawingml/2006/main">
              <a:ext uri="{FF2B5EF4-FFF2-40B4-BE49-F238E27FC236}">
                <a16:creationId xmlns:a16="http://schemas.microsoft.com/office/drawing/2014/main" id="{14930995-1DBD-4270-9017-AFC0260C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8" name="s11-label-0">
            <a:extLst xmlns:a="http://schemas.openxmlformats.org/drawingml/2006/main">
              <a:ext uri="{FF2B5EF4-FFF2-40B4-BE49-F238E27FC236}">
                <a16:creationId xmlns:a16="http://schemas.microsoft.com/office/drawing/2014/main" id="{ED660A22-9C42-4EBF-80BB-425DA16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4835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1막 · 중단</a:t>
            </a:r>
          </a:p>
        </p:txBody>
      </p:sp>
      <p:sp>
        <p:nvSpPr>
          <p:cNvPr id="9" name="s11-card-1">
            <a:extLst xmlns:a="http://schemas.openxmlformats.org/drawingml/2006/main">
              <a:ext uri="{FF2B5EF4-FFF2-40B4-BE49-F238E27FC236}">
                <a16:creationId xmlns:a16="http://schemas.microsoft.com/office/drawing/2014/main" id="{96AEA364-5CD0-454F-81B0-82E5404D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0495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s11-head-1">
            <a:extLst xmlns:a="http://schemas.openxmlformats.org/drawingml/2006/main">
              <a:ext uri="{FF2B5EF4-FFF2-40B4-BE49-F238E27FC236}">
                <a16:creationId xmlns:a16="http://schemas.microsoft.com/office/drawing/2014/main" id="{830B3106-FE0D-4249-A207-5327F713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4785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Typed contract</a:t>
            </a:r>
          </a:p>
        </p:txBody>
      </p:sp>
      <p:sp>
        <p:nvSpPr>
          <p:cNvPr id="11" name="s11-body-1">
            <a:extLst xmlns:a="http://schemas.openxmlformats.org/drawingml/2006/main">
              <a:ext uri="{FF2B5EF4-FFF2-40B4-BE49-F238E27FC236}">
                <a16:creationId xmlns:a16="http://schemas.microsoft.com/office/drawing/2014/main" id="{A89F21FD-24FB-4BF8-B8D1-B188FDBA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9337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sealed 37/64.
96개 요구 중 명시적 relation 계약 22개.
연구 경로로 보존했다.</a:t>
            </a:r>
          </a:p>
        </p:txBody>
      </p:sp>
      <p:sp>
        <p:nvSpPr>
          <p:cNvPr id="12" name="s11-dot-1">
            <a:extLst xmlns:a="http://schemas.openxmlformats.org/drawingml/2006/main">
              <a:ext uri="{FF2B5EF4-FFF2-40B4-BE49-F238E27FC236}">
                <a16:creationId xmlns:a16="http://schemas.microsoft.com/office/drawing/2014/main" id="{79C9F7FB-43A2-41DB-98D2-1CE4681D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0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13" name="s11-label-1">
            <a:extLst xmlns:a="http://schemas.openxmlformats.org/drawingml/2006/main">
              <a:ext uri="{FF2B5EF4-FFF2-40B4-BE49-F238E27FC236}">
                <a16:creationId xmlns:a16="http://schemas.microsoft.com/office/drawing/2014/main" id="{A2FA1650-7D5A-4F08-AFDC-8BBC45F7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4835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2막 · 보존</a:t>
            </a:r>
          </a:p>
        </p:txBody>
      </p:sp>
      <p:sp>
        <p:nvSpPr>
          <p:cNvPr id="14" name="s11-card-2">
            <a:extLst xmlns:a="http://schemas.openxmlformats.org/drawingml/2006/main">
              <a:ext uri="{FF2B5EF4-FFF2-40B4-BE49-F238E27FC236}">
                <a16:creationId xmlns:a16="http://schemas.microsoft.com/office/drawing/2014/main" id="{5DC64E4E-9F9D-4E85-ADDE-4A9BD93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0495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5" name="s11-head-2">
            <a:extLst xmlns:a="http://schemas.openxmlformats.org/drawingml/2006/main">
              <a:ext uri="{FF2B5EF4-FFF2-40B4-BE49-F238E27FC236}">
                <a16:creationId xmlns:a16="http://schemas.microsoft.com/office/drawing/2014/main" id="{ABC1E197-58A0-418B-80FD-5EB0A0AB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933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Product Free RAG</a:t>
            </a:r>
          </a:p>
        </p:txBody>
      </p:sp>
      <p:sp>
        <p:nvSpPr>
          <p:cNvPr id="16" name="s11-body-2">
            <a:extLst xmlns:a="http://schemas.openxmlformats.org/drawingml/2006/main">
              <a:ext uri="{FF2B5EF4-FFF2-40B4-BE49-F238E27FC236}">
                <a16:creationId xmlns:a16="http://schemas.microsoft.com/office/drawing/2014/main" id="{B75D6E1B-7CB8-4721-810E-EDF2D400F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81300"/>
            <a:ext cx="293370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질문 해석은 모델에, 근거·핵심값·인용은 서버에.
공식 A6는 사람 감수 20/32.</a:t>
            </a:r>
          </a:p>
        </p:txBody>
      </p:sp>
      <p:sp>
        <p:nvSpPr>
          <p:cNvPr id="17" name="s11-dot-2">
            <a:extLst xmlns:a="http://schemas.openxmlformats.org/drawingml/2006/main">
              <a:ext uri="{FF2B5EF4-FFF2-40B4-BE49-F238E27FC236}">
                <a16:creationId xmlns:a16="http://schemas.microsoft.com/office/drawing/2014/main" id="{95F5F588-825F-4637-B6AC-BD4CD683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05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8" name="s11-label-2">
            <a:extLst xmlns:a="http://schemas.openxmlformats.org/drawingml/2006/main">
              <a:ext uri="{FF2B5EF4-FFF2-40B4-BE49-F238E27FC236}">
                <a16:creationId xmlns:a16="http://schemas.microsoft.com/office/drawing/2014/main" id="{1351A9BF-27CB-4931-B319-62E5C602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848350"/>
            <a:ext cx="2952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3막 · 현재</a:t>
            </a:r>
          </a:p>
        </p:txBody>
      </p:sp>
    </p:spTree>
    <p:extLst>
      <p:ext uri="{BB962C8B-B14F-4D97-AF65-F5344CB8AC3E}">
        <p14:creationId xmlns:p14="http://schemas.microsoft.com/office/powerpoint/2010/main" val="1479270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C0CE8F0-0C04-4D15-8127-457CD6E4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남은 실패는 검색 하나로 설명되지 않는다</a:t>
            </a:r>
          </a:p>
        </p:txBody>
      </p:sp>
      <p:sp>
        <p:nvSpPr>
          <p:cNvPr id="2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C8C6C759-3159-4EA5-A33E-2AA24EFF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12</a:t>
            </a:r>
          </a:p>
        </p:txBody>
      </p:sp>
      <p:sp>
        <p:nvSpPr>
          <p:cNvPr id="3" name="s12-intro">
            <a:extLst xmlns:a="http://schemas.openxmlformats.org/drawingml/2006/main">
              <a:ext uri="{FF2B5EF4-FFF2-40B4-BE49-F238E27FC236}">
                <a16:creationId xmlns:a16="http://schemas.microsoft.com/office/drawing/2014/main" id="{A00B005B-995A-4CBE-900B-D7C70552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요구 단위로 최초 손실 지점을 기록하자 생성과 verifier의 서로 다른 문제가 보였다.</a:t>
            </a:r>
          </a:p>
        </p:txBody>
      </p:sp>
      <p:sp>
        <p:nvSpPr>
          <p:cNvPr id="4" name="s12-panel-0">
            <a:extLst xmlns:a="http://schemas.openxmlformats.org/drawingml/2006/main">
              <a:ext uri="{FF2B5EF4-FFF2-40B4-BE49-F238E27FC236}">
                <a16:creationId xmlns:a16="http://schemas.microsoft.com/office/drawing/2014/main" id="{3984BEFF-D553-42F1-A322-DF948AC5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s12-panel-head-0">
            <a:extLst xmlns:a="http://schemas.openxmlformats.org/drawingml/2006/main">
              <a:ext uri="{FF2B5EF4-FFF2-40B4-BE49-F238E27FC236}">
                <a16:creationId xmlns:a16="http://schemas.microsoft.com/office/drawing/2014/main" id="{A3129221-9C21-4763-AD11-11135962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A6-7 · 조건 결속 실패</a:t>
            </a:r>
          </a:p>
        </p:txBody>
      </p:sp>
      <p:sp>
        <p:nvSpPr>
          <p:cNvPr id="6" name="s12-panel-body-0">
            <a:extLst xmlns:a="http://schemas.openxmlformats.org/drawingml/2006/main">
              <a:ext uri="{FF2B5EF4-FFF2-40B4-BE49-F238E27FC236}">
                <a16:creationId xmlns:a16="http://schemas.microsoft.com/office/drawing/2014/main" id="{D0A89661-73D2-478E-B3CA-93309E0E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20→18과 12→9가 모두 근거에 존재</a:t>
            </a:r>
          </a:p>
        </p:txBody>
      </p:sp>
      <p:sp>
        <p:nvSpPr>
          <p:cNvPr id="7" name="s12-detail-0">
            <a:extLst xmlns:a="http://schemas.openxmlformats.org/drawingml/2006/main">
              <a:ext uri="{FF2B5EF4-FFF2-40B4-BE49-F238E27FC236}">
                <a16:creationId xmlns:a16="http://schemas.microsoft.com/office/drawing/2014/main" id="{410A5407-EFAD-4031-9FE6-8A131437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요구별 fan-out도 금지 값까지 함께 생성해 엄격 gate 0/2. 정보 부족이 아니라 조건 손실이었다.</a:t>
            </a:r>
          </a:p>
        </p:txBody>
      </p:sp>
      <p:sp>
        <p:nvSpPr>
          <p:cNvPr id="8" name="s12-panel-1">
            <a:extLst xmlns:a="http://schemas.openxmlformats.org/drawingml/2006/main">
              <a:ext uri="{FF2B5EF4-FFF2-40B4-BE49-F238E27FC236}">
                <a16:creationId xmlns:a16="http://schemas.microsoft.com/office/drawing/2014/main" id="{F1924A8B-1DD0-4D72-94EF-A388EAC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5750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9" name="s12-panel-head-1">
            <a:extLst xmlns:a="http://schemas.openxmlformats.org/drawingml/2006/main">
              <a:ext uri="{FF2B5EF4-FFF2-40B4-BE49-F238E27FC236}">
                <a16:creationId xmlns:a16="http://schemas.microsoft.com/office/drawing/2014/main" id="{6709F058-03A5-4EC6-A06A-1053C18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23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slot 25 · verifier 과차단</a:t>
            </a:r>
          </a:p>
        </p:txBody>
      </p:sp>
      <p:sp>
        <p:nvSpPr>
          <p:cNvPr id="10" name="s12-panel-body-1">
            <a:extLst xmlns:a="http://schemas.openxmlformats.org/drawingml/2006/main">
              <a:ext uri="{FF2B5EF4-FFF2-40B4-BE49-F238E27FC236}">
                <a16:creationId xmlns:a16="http://schemas.microsoft.com/office/drawing/2014/main" id="{FA53C1AC-BDD3-4A91-A2C0-B9451ACE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맞는 claim을 3/3 동일하게 제거</a:t>
            </a:r>
          </a:p>
        </p:txBody>
      </p:sp>
      <p:sp>
        <p:nvSpPr>
          <p:cNvPr id="11" name="s12-detail-1">
            <a:extLst xmlns:a="http://schemas.openxmlformats.org/drawingml/2006/main">
              <a:ext uri="{FF2B5EF4-FFF2-40B4-BE49-F238E27FC236}">
                <a16:creationId xmlns:a16="http://schemas.microsoft.com/office/drawing/2014/main" id="{15636733-FB72-44E1-A1A9-5FD31F2A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검색·생성은 정답이었지만 evidence relevance gate가 정답을 지웠다.</a:t>
            </a:r>
          </a:p>
        </p:txBody>
      </p:sp>
    </p:spTree>
    <p:extLst>
      <p:ext uri="{BB962C8B-B14F-4D97-AF65-F5344CB8AC3E}">
        <p14:creationId xmlns:p14="http://schemas.microsoft.com/office/powerpoint/2010/main" val="17743742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8DAFF902-9CDF-4FF2-89BE-360E777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공식 결과는 공개 가능하지만 제품 기본 경로는 아니다</a:t>
            </a:r>
          </a:p>
        </p:txBody>
      </p:sp>
      <p:sp>
        <p:nvSpPr>
          <p:cNvPr id="2" name="slide-13-number">
            <a:extLst xmlns:a="http://schemas.openxmlformats.org/drawingml/2006/main">
              <a:ext uri="{FF2B5EF4-FFF2-40B4-BE49-F238E27FC236}">
                <a16:creationId xmlns:a16="http://schemas.microsoft.com/office/drawing/2014/main" id="{46028732-1E3D-45C4-AA5F-BC1C2712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13</a:t>
            </a:r>
          </a:p>
        </p:txBody>
      </p:sp>
      <p:sp>
        <p:nvSpPr>
          <p:cNvPr id="3" name="s13-head">
            <a:extLst xmlns:a="http://schemas.openxmlformats.org/drawingml/2006/main">
              <a:ext uri="{FF2B5EF4-FFF2-40B4-BE49-F238E27FC236}">
                <a16:creationId xmlns:a16="http://schemas.microsoft.com/office/drawing/2014/main" id="{AC79651F-71EC-49AA-B8A0-CB778518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4953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sealed 사람 감수 20/32</a:t>
            </a:r>
          </a:p>
        </p:txBody>
      </p:sp>
      <p:sp>
        <p:nvSpPr>
          <p:cNvPr id="4" name="s13-body">
            <a:extLst xmlns:a="http://schemas.openxmlformats.org/drawingml/2006/main">
              <a:ext uri="{FF2B5EF4-FFF2-40B4-BE49-F238E27FC236}">
                <a16:creationId xmlns:a16="http://schemas.microsoft.com/office/drawing/2014/main" id="{1B43BBE4-65E4-4DC5-A545-E8F2E920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4953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자동 채점 7/32와 같은 저장 출력이다.
차이는 모델이 아니라 채점기의 날짜·어순·표·partial 처리에서 났다.
false-full 0 · 인용 좌표 32/32 · 생성 오류 0</a:t>
            </a:r>
          </a:p>
        </p:txBody>
      </p:sp>
      <p:sp>
        <p:nvSpPr>
          <p:cNvPr id="5" name="s13-foot">
            <a:extLst xmlns:a="http://schemas.openxmlformats.org/drawingml/2006/main">
              <a:ext uri="{FF2B5EF4-FFF2-40B4-BE49-F238E27FC236}">
                <a16:creationId xmlns:a16="http://schemas.microsoft.com/office/drawing/2014/main" id="{A3FC92F5-14AF-4DD3-A0D9-4E3F4BB3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결론: 포트폴리오 GO · 제품 승격 NO-GO</a:t>
            </a:r>
          </a:p>
        </p:txBody>
      </p:sp>
      <p:sp>
        <p:nvSpPr>
          <p:cNvPr id="6" name="s13-image-backing">
            <a:extLst xmlns:a="http://schemas.openxmlformats.org/drawingml/2006/main">
              <a:ext uri="{FF2B5EF4-FFF2-40B4-BE49-F238E27FC236}">
                <a16:creationId xmlns:a16="http://schemas.microsoft.com/office/drawing/2014/main" id="{642BE01D-1BAB-4D96-B81F-59CF5DE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257300"/>
            <a:ext cx="571500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462e8a58f48ce"/>
          <a:stretch xmlns:a="http://schemas.openxmlformats.org/drawingml/2006/main"/>
        </p:blipFill>
        <p:spPr>
          <a:xfrm xmlns:a="http://schemas.openxmlformats.org/drawingml/2006/main">
            <a:off x="6191250" y="2138363"/>
            <a:ext cx="5334000" cy="3000375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</p:spTree>
    <p:extLst>
      <p:ext uri="{BB962C8B-B14F-4D97-AF65-F5344CB8AC3E}">
        <p14:creationId xmlns:p14="http://schemas.microsoft.com/office/powerpoint/2010/main" val="16821500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61B7F461-4C00-4413-97DC-E9325DEB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277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67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운영은 새 문서를 넣는 일이 아니라 기존 근거를 지키는 교체다</a:t>
            </a:r>
          </a:p>
        </p:txBody>
      </p:sp>
      <p:sp>
        <p:nvSpPr>
          <p:cNvPr id="2" name="slide-14-number">
            <a:extLst xmlns:a="http://schemas.openxmlformats.org/drawingml/2006/main">
              <a:ext uri="{FF2B5EF4-FFF2-40B4-BE49-F238E27FC236}">
                <a16:creationId xmlns:a16="http://schemas.microsoft.com/office/drawing/2014/main" id="{8C638409-2832-478F-BD70-881E9AFD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6745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14</a:t>
            </a:r>
          </a:p>
        </p:txBody>
      </p:sp>
      <p:cxnSp>
        <p:nvCxnSpPr>
          <p:cNvPr id="18" name="s14-timeline-line"/>
          <p:cNvCxnSpPr/>
          <p:nvPr/>
        </p:nvCxnSpPr>
        <p:spPr>
          <a:xfrm xmlns:a="http://schemas.openxmlformats.org/drawingml/2006/main">
            <a:off x="533400" y="3219450"/>
            <a:ext cx="107632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s14-node-0">
            <a:extLst xmlns:a="http://schemas.openxmlformats.org/drawingml/2006/main">
              <a:ext uri="{FF2B5EF4-FFF2-40B4-BE49-F238E27FC236}">
                <a16:creationId xmlns:a16="http://schemas.microsoft.com/office/drawing/2014/main" id="{AAF7E89C-AE54-47E3-8869-079D77F2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5" name="s14-label-0">
            <a:extLst xmlns:a="http://schemas.openxmlformats.org/drawingml/2006/main">
              <a:ext uri="{FF2B5EF4-FFF2-40B4-BE49-F238E27FC236}">
                <a16:creationId xmlns:a16="http://schemas.microsoft.com/office/drawing/2014/main" id="{CFECBAF7-28FF-4E38-B905-E1DE4895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COLLECT</a:t>
            </a:r>
          </a:p>
        </p:txBody>
      </p:sp>
      <p:sp>
        <p:nvSpPr>
          <p:cNvPr id="6" name="s14-head-0">
            <a:extLst xmlns:a="http://schemas.openxmlformats.org/drawingml/2006/main">
              <a:ext uri="{FF2B5EF4-FFF2-40B4-BE49-F238E27FC236}">
                <a16:creationId xmlns:a16="http://schemas.microsoft.com/office/drawing/2014/main" id="{937C09A5-1447-451A-A6B0-0D3A64B5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신규 문서를 분리 수집</a:t>
            </a:r>
          </a:p>
        </p:txBody>
      </p:sp>
      <p:sp>
        <p:nvSpPr>
          <p:cNvPr id="7" name="s14-body-0">
            <a:extLst xmlns:a="http://schemas.openxmlformats.org/drawingml/2006/main">
              <a:ext uri="{FF2B5EF4-FFF2-40B4-BE49-F238E27FC236}">
                <a16:creationId xmlns:a16="http://schemas.microsoft.com/office/drawing/2014/main" id="{7D9A6528-0D07-47A1-B5AC-0DA24885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discovery 목록
parser·정규화 diff
사람 표본 검수</a:t>
            </a:r>
          </a:p>
        </p:txBody>
      </p:sp>
      <p:sp>
        <p:nvSpPr>
          <p:cNvPr id="8" name="s14-node-1">
            <a:extLst xmlns:a="http://schemas.openxmlformats.org/drawingml/2006/main">
              <a:ext uri="{FF2B5EF4-FFF2-40B4-BE49-F238E27FC236}">
                <a16:creationId xmlns:a16="http://schemas.microsoft.com/office/drawing/2014/main" id="{DA35AECF-2EF0-4E83-BB9A-2F43BDB9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</p:spPr>
      </p:sp>
      <p:sp>
        <p:nvSpPr>
          <p:cNvPr id="9" name="s14-label-1">
            <a:extLst xmlns:a="http://schemas.openxmlformats.org/drawingml/2006/main">
              <a:ext uri="{FF2B5EF4-FFF2-40B4-BE49-F238E27FC236}">
                <a16:creationId xmlns:a16="http://schemas.microsoft.com/office/drawing/2014/main" id="{1FF217C3-8B53-4814-B7B7-00389B8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REBUILD</a:t>
            </a:r>
          </a:p>
        </p:txBody>
      </p:sp>
      <p:sp>
        <p:nvSpPr>
          <p:cNvPr id="10" name="s14-head-1">
            <a:extLst xmlns:a="http://schemas.openxmlformats.org/drawingml/2006/main">
              <a:ext uri="{FF2B5EF4-FFF2-40B4-BE49-F238E27FC236}">
                <a16:creationId xmlns:a16="http://schemas.microsoft.com/office/drawing/2014/main" id="{FCF1CB46-CF13-41CE-8BD0-4BC40CD0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새 hash로 재빌드</a:t>
            </a:r>
          </a:p>
        </p:txBody>
      </p:sp>
      <p:sp>
        <p:nvSpPr>
          <p:cNvPr id="11" name="s14-body-1">
            <a:extLst xmlns:a="http://schemas.openxmlformats.org/drawingml/2006/main">
              <a:ext uri="{FF2B5EF4-FFF2-40B4-BE49-F238E27FC236}">
                <a16:creationId xmlns:a16="http://schemas.microsoft.com/office/drawing/2014/main" id="{FBC4F759-D547-44EB-A5B5-C915E660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청크·BM25·dense
기존 snapshot 보존
OCR은 계속 격리</a:t>
            </a:r>
          </a:p>
        </p:txBody>
      </p:sp>
      <p:sp>
        <p:nvSpPr>
          <p:cNvPr id="12" name="s14-node-2">
            <a:extLst xmlns:a="http://schemas.openxmlformats.org/drawingml/2006/main">
              <a:ext uri="{FF2B5EF4-FFF2-40B4-BE49-F238E27FC236}">
                <a16:creationId xmlns:a16="http://schemas.microsoft.com/office/drawing/2014/main" id="{09999CDB-D767-4119-A963-9D3D96E0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146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s14-label-2">
            <a:extLst xmlns:a="http://schemas.openxmlformats.org/drawingml/2006/main">
              <a:ext uri="{FF2B5EF4-FFF2-40B4-BE49-F238E27FC236}">
                <a16:creationId xmlns:a16="http://schemas.microsoft.com/office/drawing/2014/main" id="{3F3B1756-EEE9-4417-80B2-9A4F8C34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VERIFY</a:t>
            </a:r>
          </a:p>
        </p:txBody>
      </p:sp>
      <p:sp>
        <p:nvSpPr>
          <p:cNvPr id="14" name="s14-head-2">
            <a:extLst xmlns:a="http://schemas.openxmlformats.org/drawingml/2006/main">
              <a:ext uri="{FF2B5EF4-FFF2-40B4-BE49-F238E27FC236}">
                <a16:creationId xmlns:a16="http://schemas.microsoft.com/office/drawing/2014/main" id="{75AC02AA-2760-460C-8D14-3676851A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3048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좌표·검색·안전 gate</a:t>
            </a:r>
          </a:p>
        </p:txBody>
      </p:sp>
      <p:sp>
        <p:nvSpPr>
          <p:cNvPr id="15" name="s14-body-2">
            <a:extLst xmlns:a="http://schemas.openxmlformats.org/drawingml/2006/main">
              <a:ext uri="{FF2B5EF4-FFF2-40B4-BE49-F238E27FC236}">
                <a16:creationId xmlns:a16="http://schemas.microsoft.com/office/drawing/2014/main" id="{BC4EBA1C-7FC2-44D7-AB1D-3955E957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24375"/>
            <a:ext cx="3048000" cy="1285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sealed 근거 33/33
회귀 없으면 교체
실패하면 롤백</a:t>
            </a:r>
          </a:p>
        </p:txBody>
      </p:sp>
    </p:spTree>
    <p:extLst>
      <p:ext uri="{BB962C8B-B14F-4D97-AF65-F5344CB8AC3E}">
        <p14:creationId xmlns:p14="http://schemas.microsoft.com/office/powerpoint/2010/main" val="209510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2026-08-07T10:05:56.0670000Z</dcterms:created>
  <dcterms:modified xsi:type="dcterms:W3CDTF">2026-08-07T10:05:56.0670000Z</dcterms:modified>
</coreProperties>
</file>